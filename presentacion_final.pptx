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2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60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114800" cy="4114800"/>
          </a:xfrm>
          <a:prstGeom prst="ellipse">
            <a:avLst/>
          </a:prstGeom>
          <a:solidFill>
            <a:srgbClr val="6B0A2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de Biblioteca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Libros Electrónicos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— Programación Orientada a Objetos 2 (SOF-3A)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por: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Josue Ramirez Mora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Mgtr. Milton Ricardo Palacios Morocho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 — Santa Rosa, Ecuador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7A0C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94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este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52120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selección del tema del proyecto integrador.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43400" y="91440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7" name="Text 5"/>
          <p:cNvSpPr/>
          <p:nvPr/>
        </p:nvSpPr>
        <p:spPr>
          <a:xfrm>
            <a:off x="434340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74920" y="868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128016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biblioteca ya tenía, desde etapas previas, un modelo de dominio en Go con POO, interfaces y manejo de errores validado con pruebas.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60604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74920" y="2560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natural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29718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biblioteca con varios lectores solicitando libros a la vez es un caso real —no forzado— para aplicar goroutines, channels y mutex.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429768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74920" y="4251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manejable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66344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 externa ni autenticación, el equipo pudo enfocar el tiempo en los servicios web, la concurrencia y las pruebas.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programa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34440"/>
            <a:ext cx="10515600" cy="123444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exponer como aplicación web un sistema de gestión de biblioteca de libros electrónicos, que administre el catálogo, los usuarios y el ciclo de préstamo/devolución mediante servicios REST en JSON, aplicando programación orientada a objetos y concurrencia segura en Go.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342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Alta, listado y filtrado por género de libros electrónicos.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834640"/>
            <a:ext cx="342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4297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lectores y consulta de su historial de préstamos.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63840" y="2834640"/>
            <a:ext cx="3429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3154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3840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183880" y="4297680"/>
            <a:ext cx="28346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y devolución, con reglas de disponibilidad.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paquetes en Go, con inyección de dependencias entre capas.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28800" cy="1051560"/>
          </a:xfrm>
          <a:prstGeom prst="rect">
            <a:avLst/>
          </a:prstGeom>
          <a:solidFill>
            <a:srgbClr val="7A0C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606040" y="1627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HTTP + JSON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06040" y="201168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 peticiones a llamadas del servicio. No contiene reglas de negocio.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463040" y="2651760"/>
            <a:ext cx="0" cy="18288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1828800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06040" y="2862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324612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negocio: préstamos, devoluciones, validaciones, concurrencia (goroutines).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463040" y="3886200"/>
            <a:ext cx="0" cy="18288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069080"/>
            <a:ext cx="1828800" cy="1051560"/>
          </a:xfrm>
          <a:prstGeom prst="rect">
            <a:avLst/>
          </a:prstGeom>
          <a:solidFill>
            <a:srgbClr val="4B4B7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+ memoria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06040" y="448056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acceso a datos. Implementación en memoria protegida con sync.RWMutex.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463040" y="5120640"/>
            <a:ext cx="0" cy="182880"/>
          </a:xfrm>
          <a:prstGeom prst="line">
            <a:avLst/>
          </a:prstGeom>
          <a:noFill/>
          <a:ln w="19050">
            <a:solidFill>
              <a:srgbClr val="C9C9C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5303520"/>
            <a:ext cx="1828800" cy="105156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03520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06040" y="533095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del dominio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06040" y="5715000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LibroElectronico, Usuario, Prestamo — campos privados, validados en el constructor.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web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serializados con encoding/json.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7772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8191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1554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libro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777240" cy="310896"/>
          </a:xfrm>
          <a:prstGeom prst="rect">
            <a:avLst/>
          </a:prstGeom>
          <a:solidFill>
            <a:srgbClr val="3E7D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2029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06440" y="20299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catálogo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777240" cy="310896"/>
          </a:xfrm>
          <a:prstGeom prst="rect">
            <a:avLst/>
          </a:prstGeom>
          <a:solidFill>
            <a:srgbClr val="3E7D4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3288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08760" y="25054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/api/libros/genero/{g}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06440" y="25054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género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08376"/>
            <a:ext cx="7772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0837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08760" y="298094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/api/libros/importar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06440" y="29809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en paralelo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83864"/>
            <a:ext cx="7772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83864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08760" y="34564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/api/usuarios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06440" y="345643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lector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959352"/>
            <a:ext cx="777240" cy="310896"/>
          </a:xfrm>
          <a:prstGeom prst="rect">
            <a:avLst/>
          </a:prstGeom>
          <a:solidFill>
            <a:srgbClr val="3E7D4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9593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3931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/api/usuarios/{id}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806440" y="39319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lector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777240" cy="310896"/>
          </a:xfrm>
          <a:prstGeom prst="rect">
            <a:avLst/>
          </a:prstGeom>
          <a:solidFill>
            <a:srgbClr val="3E7D4C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434840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508760" y="440740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/api/usuarios/{id}/historial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806440" y="440740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préstamos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910328"/>
            <a:ext cx="7772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91032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508760" y="48828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/api/prestamos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806440" y="488289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préstamo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385816"/>
            <a:ext cx="77724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385816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508760" y="53583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/api/prestamos/{id}/devolver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806440" y="53583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devolución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60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en la gestión de solicitudes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3A0E1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sync.RWMutex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repositorio en memoria protege su mapa: varias lecturas simultáneas, una escritura exclusiva a la vez.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3A0E1F"/>
          </a:solidFill>
          <a:ln w="19050">
            <a:solidFill>
              <a:srgbClr val="7A0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83080"/>
            <a:ext cx="594360" cy="59436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17720" y="2606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goroutines + WaitGroup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importación de libros en lote procesa cada ítem en paralelo y espera a que todas terminen.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3A0E1F"/>
          </a:solidFill>
          <a:ln w="19050">
            <a:solidFill>
              <a:srgbClr val="4B4B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1783080"/>
            <a:ext cx="594360" cy="594360"/>
          </a:xfrm>
          <a:prstGeom prst="ellipse">
            <a:avLst/>
          </a:prstGeom>
          <a:solidFill>
            <a:srgbClr val="4B4B77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12480" y="338328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logger asíncrono recibe los registros de cada solicitud por un canal, sin bloquear la respuesta al cliente.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Verificado con: go test ./... -race  (sin condiciones de carrera)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de software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14600" cy="155448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514600" cy="155448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325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4612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234440"/>
            <a:ext cx="2514600" cy="155448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325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41080" y="1234440"/>
            <a:ext cx="2514600" cy="155448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41080" y="13258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641080" y="21488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validado end-to-end (prueba de aceptación):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83664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29968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029968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libro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64992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511296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511296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92624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9C3B3B"/>
          </a:solidFill>
          <a:ln/>
        </p:spPr>
      </p:sp>
      <p:sp>
        <p:nvSpPr>
          <p:cNvPr id="26" name="Text 24"/>
          <p:cNvSpPr/>
          <p:nvPr/>
        </p:nvSpPr>
        <p:spPr>
          <a:xfrm>
            <a:off x="4992624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2do intento → 409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73952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historial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808976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55280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90304" y="3657600"/>
            <a:ext cx="155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436608" y="3657600"/>
            <a:ext cx="1344168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9436608" y="3657600"/>
            <a:ext cx="1344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de nuevo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846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código HTTP de error de negocio se traduce a un estado claro (400 / 404 / 409) en vez de un 500 genérico.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Aplicaciones prácticas en diferentes ámbitos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patrón de arquitectura (POO + servicios REST + concurrencia) es transferible a otros dominios.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universitarias y colegios: catálogos digitales y control de préstamos entre sedes.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69748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activos internos (equipos, licencias de software) con el mismo modelo de "préstamo/devolución".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87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de equipos o salas compartidas, donde la concurrencia evita dobles asignaciones.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206240"/>
            <a:ext cx="502920" cy="502920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4187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digital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públicos que exponen trámites como API REST/JSON para integrarse con otras plataformas.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60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del futuro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puede evolucionar este sistema con las tecnologías seleccionadas (Go, servicios REST, concurrencia).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95628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59562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25980" y="2587752"/>
            <a:ext cx="235000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memoria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+ net/http, JSON, concurrencia con goroutines/channels.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8828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3882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69180" y="2587752"/>
            <a:ext cx="235000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9184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y contenedores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39319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(PostgreSQL) y despliegue con Docker.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82028" y="23317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08202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12380" y="2587752"/>
            <a:ext cx="2350008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3504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MEDIANO PLAZO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en la nube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26480" y="39319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autoescalado, múltiples instancias del servicio.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825228" y="2331720"/>
            <a:ext cx="512064" cy="512064"/>
          </a:xfrm>
          <a:prstGeom prst="ellipse">
            <a:avLst/>
          </a:prstGeom>
          <a:solidFill>
            <a:srgbClr val="7A0C2E"/>
          </a:solidFill>
          <a:ln/>
        </p:spPr>
      </p:sp>
      <p:sp>
        <p:nvSpPr>
          <p:cNvPr id="23" name="Text 21"/>
          <p:cNvSpPr/>
          <p:nvPr/>
        </p:nvSpPr>
        <p:spPr>
          <a:xfrm>
            <a:off x="9825228" y="2331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77824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2918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inteligentes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69680" y="393192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lectura con IA; gRPC/GraphQL entre microservicios.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actual —interfaces pequeñas, inyección de dependencias y repositorios desacoplados— es justamente lo que permite añadir cada etapa sin reescribir la lógica de negocio ya construida.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0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 reflexiva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93776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aprendido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96112" y="21305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POO al idioma de Go (interfaces implícitas, sin herencia) en vez de imitar Java/C#.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96112" y="354787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concurrencia seguro con mutex y channels, no solo "agregar goroutines".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49651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dominio, repositorio, servicio y web para que cada capa se pruebe por separado.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234440"/>
            <a:ext cx="5394960" cy="4937760"/>
          </a:xfrm>
          <a:prstGeom prst="rect">
            <a:avLst/>
          </a:prstGeom>
          <a:solidFill>
            <a:srgbClr val="FAF9F7"/>
          </a:solidFill>
          <a:ln w="12700">
            <a:solidFill>
              <a:srgbClr val="E4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A0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519672" y="213055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0116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el nivel correcto de manejo de errores sin sobrediseñar para un proyecto académico.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19672" y="354787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429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condiciones de carrera al mezclar HTTP concurrente con estado compartido en memoria.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19672" y="4965192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8463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las pruebas de aceptación legibles como evidencia, no solo como código.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60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3E7D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0848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+ README con objetivo, funcionalidades, datos del grupo y fecha.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3E7D4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2278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Justificación, arquitectura, diagrama de clases, pruebas y resultados.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3E7D4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demostrativo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370832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funcionalidades en vivo, incluida la evidencia de concurrencia.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0" y="201168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970</Words>
  <Application>Microsoft Office PowerPoint</Application>
  <PresentationFormat>Panorámica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Angel Ramirez</cp:lastModifiedBy>
  <cp:revision>2</cp:revision>
  <dcterms:created xsi:type="dcterms:W3CDTF">2026-08-20T01:39:24Z</dcterms:created>
  <dcterms:modified xsi:type="dcterms:W3CDTF">2026-08-20T02:29:26Z</dcterms:modified>
</cp:coreProperties>
</file>